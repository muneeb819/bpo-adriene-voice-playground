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37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11430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Overview of the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Federal Health Insurance Program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 ·  Parts A, B, C &amp; D  ·  Costs  ·  Coverage Options  ·  2026 Updates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Overview  ·  Current as of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Medicare?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health insurance established in 1965 under Title XVIII of the Social Security 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2743200" cy="4754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371600"/>
            <a:ext cx="2743200" cy="7315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age 65 and older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younger people with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disabilities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End-Stage Renal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(ESRD) or 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743200" cy="4754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371600"/>
            <a:ext cx="2743200" cy="7315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A–D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2900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29260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hospital care,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visits, preventive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and prescription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through four parts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743200" cy="4754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371600"/>
            <a:ext cx="2743200" cy="7315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550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9260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the Centers for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&amp; Medicaid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(CMS)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taxes, premiums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federal budget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0" y="1371600"/>
            <a:ext cx="2743200" cy="4754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0" y="1371600"/>
            <a:ext cx="2743200" cy="7315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28116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0" y="29260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more than 70 million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(2026)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people 65+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coverage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Qualifies for Medicare?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generally be a U.S. citizen or lawful permanent resident who has lived in the U.S. for at least 5 years.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Pathways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65 or Older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500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path. Automatic enrollment if already receiving Social Security benefits.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017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101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65 and entitled to Social Security disability benefits for 24 months (waiting period may be waived).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977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27024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 with permanent kidney failure requiring dialysis or a kidney transplant.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937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(Lou Gehrig's)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52303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 diagnosed with amyotrophic lateral sclerosis — no waiting period.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5669280" cy="2286000"/>
          </a:xfrm>
          <a:prstGeom prst="rect">
            <a:avLst/>
          </a:prstGeom>
          <a:solidFill>
            <a:srgbClr val="E8FBF4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554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Premium-Free Part 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19659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get Part A at no monthly cost if they (or a spouse) paid Medicare taxes for at least 10 years (40 quarters) while working.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3840480"/>
            <a:ext cx="5669280" cy="23774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023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44805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 B is optional but most people enroll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can buy Part A if you do not qualify for free coverage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Enrollment is not always automatic — check your situation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Spousal work history can help you qualify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Parts of Medicare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is organized into four distinct parts that cover different types of services.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83464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1600200"/>
            <a:ext cx="914400" cy="9144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Insurance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Inpatient hospital stays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Skilled nursing facility care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Hospice care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Some home health care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1371600"/>
            <a:ext cx="283464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1960" y="160020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2900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2044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Doctor &amp; provider services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Outpatient care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Durable medical equipment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Preventive services &amp; screenings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1371600"/>
            <a:ext cx="283464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0" y="1600200"/>
            <a:ext cx="914400" cy="9144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40080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Private plan alternative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Bundles A + B (often D)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 include extra benefits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Network-based coverage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235440" y="1371600"/>
            <a:ext cx="283464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95560" y="160020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1019556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937260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Drugs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46404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Outpatient prescription drugs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640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Many recommended vaccines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46404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 by private plans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46404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Available with Original or MA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Insurance — What It Covers &amp; Costs (2026)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receive premium-free Part A after paying Medicare taxes for at least 10 years.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566928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A Helps Cover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Hospital Care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5000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Semi-private room, meals, general nursing, drugs as part of inpatient treatment, and other hospital services.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Nursing Facility (SNF)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after a qualifying 3-day hospital stay. Days 1–20 fully covered after deductible; coinsurance applies days 21–100.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Hospice Care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7024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terminally ill patients. Includes pain relief, support services, and counseling. Minimal cost sharing.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23036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skilled nursing, physical/occupational therapy, and home health aide services when medically necessary.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371600"/>
            <a:ext cx="5532120" cy="4846320"/>
          </a:xfrm>
          <a:prstGeom prst="rect">
            <a:avLst/>
          </a:prstGeom>
          <a:solidFill>
            <a:srgbClr val="E8FBF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Part A Costs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(most people)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(30–39 quarters)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$311/mo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(&lt;30 quarters)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$565/mo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3611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deductible (per benefit period)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3611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$1,736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 coinsurance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8408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$434/day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reserve days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84080" y="4617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$868/day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SNF days 21–100 coinsurance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84080" y="5120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$217/day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— What It Covers &amp; Costs (2026)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is optional but strongly recommended. Most people pay a monthly premium.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566928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B Helps Cover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Services from doctors and other health care providers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Outpatient hospital care and emergency room visits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Durable medical equipment (wheelchairs, walkers, oxygen)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Many preventive services (screenings, vaccines, wellness visits)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Clinical laboratory tests and diagnostic imaging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Mental health services (outpatient)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Ambulance services and some home health 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Limited prescription drugs administered by a provider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371600"/>
            <a:ext cx="5532120" cy="4846320"/>
          </a:xfrm>
          <a:prstGeom prst="rect">
            <a:avLst/>
          </a:prstGeom>
          <a:solidFill>
            <a:srgbClr val="E8F5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Part B Costs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Monthly Premium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$202.90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92240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(Higher for higher incomes — IRMAA applies)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383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Deductible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657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492240" y="4297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Coinsurance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4617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20% of Medicare-approved amount after deductible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5212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annual out-of-pocket maximum under Original Medicare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CHOICES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Medicare vs. Medicare Advantage (Part C)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one path when you first enroll and can switch during certain periods each year.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566928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371600"/>
            <a:ext cx="5669280" cy="64008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Medicare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Included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423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+ Part B (add Part D separately)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Choice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doctor or hospital that accepts Medicare nationwide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not required for specialists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Benefits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— vision, dental, hearing usually not covered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983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annual maximum; Medigap can help fill gaps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Coverage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separate Part D plan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371600"/>
            <a:ext cx="5532120" cy="4846320"/>
          </a:xfrm>
          <a:prstGeom prst="rect">
            <a:avLst/>
          </a:prstGeom>
          <a:solidFill>
            <a:srgbClr val="E8FB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1371600"/>
            <a:ext cx="5532120" cy="64008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(Part C)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21945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Included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2423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A + B, usually includes Part 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28346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Choice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3063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use plan network (HMO/PPO rules apply)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34747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required for specialists (especially HMOs)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411480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Benefits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4343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plans offer dental, vision, hearing, gym, OTC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46520" y="475488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maximum (varies by plan); more predictable costs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46520" y="53949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Coverage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5623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included; check formulary carefully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Drug Coverage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coverage for outpatient prescription drugs. Available as a standalone plan or through most Medicare Advantage plans.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566928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371600"/>
            <a:ext cx="91440" cy="22860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45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insurance companies offer plans that follow Medicare rules. You pay a monthly premium and share costs for drugs.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371600"/>
            <a:ext cx="566928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371600"/>
            <a:ext cx="91440" cy="22860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45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1488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 has a list of covered drugs (formulary). Check that your medications are covered before enrolling.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566928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840480"/>
            <a:ext cx="91440" cy="22860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OOP Cap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the Inflation Reduction Act, out-of-pocket drug spending is capped at $2,100 in 2026.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3840480"/>
            <a:ext cx="566928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3840480"/>
            <a:ext cx="91440" cy="22860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Help (LIS)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46177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limited income and resources may qualify for the Low-Income Subsidy, which lowers premiums and costs.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THE GAPS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Medigap, Medicaid &amp; Extra Help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Medicare leaves cost-sharing gaps. Several programs can reduce what you pay.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1143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325880"/>
            <a:ext cx="91440" cy="11430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Medigap (Medicare Supplement)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policies that help pay deductibles, coinsurance, and copayments under Original Medicare. Standardized plans (A–N). Best bought during the 6-month Medigap Open Enrollment Period starting when Part B begins.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11430000" cy="1143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56032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/ Dual Eligibility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State-federal program for people with limited income and resources. Dual eligibles can get help with Medicare premiums and cost-sharing, plus extra benefits such as long-term care and transportation.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11430000" cy="1143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794760"/>
            <a:ext cx="91440" cy="11430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31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Savings Programs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programs that help pay Part A and/or Part B premiums and sometimes deductibles and coinsurance for people with modest income and resources.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5029200"/>
            <a:ext cx="11430000" cy="1143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50292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Help (Low-Income Subsidy)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486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program that helps pay Part D premiums, deductibles, and copayments. Expanded eligibility under recent legislation. Apply through Social Security.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Periods &amp; Key Decisions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matters. Missing your initial enrollment window can result in lifelong late-enrollment penalties.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74904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371600"/>
            <a:ext cx="3749040" cy="64008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Enrollment Period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7-month window around 65th birthday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months before + month of + 3 after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Best time to avoid penalties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617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Sign up for A and/or 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1371600"/>
            <a:ext cx="374904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1371600"/>
            <a:ext cx="3749040" cy="64008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Election Period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 15 – Dec 7 every year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Switch between Original &amp; Advantage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628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 or join Part D plans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4617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Changes take effect Jan 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1371600"/>
            <a:ext cx="3749040" cy="4846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0" y="1371600"/>
            <a:ext cx="3749040" cy="64008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Enrollment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58200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Still working past 65 with employer coverage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Moving, losing other coverage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Qualifying life events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4617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Avoids late-enrollment penalties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BASICS  ·  DETAILED OVERVIEW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these essentials when navigating Medicare.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74904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642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(Hospital), B (Medical), C (Advantage), D (Drugs). Understand what each covers before choosing.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374904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1600200"/>
            <a:ext cx="502920" cy="50292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6642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Paths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22860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Medicare + optional Medigap/Part D, or a Medicare Advantage plan that bundles coverage.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74904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600200"/>
            <a:ext cx="502920" cy="50292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6642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5256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Shared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58200" y="22860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Premiums, deductibles, and coinsurance apply. 2026 standard Part B premium is $202.90; Part A is free for most.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374904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330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Is Available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436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Help, Medicare Savings Programs, Medicaid, and Medigap can significantly lower your out-of-pocket costs.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97680" y="3840480"/>
            <a:ext cx="374904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0560" y="4069080"/>
            <a:ext cx="502920" cy="50292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41330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2064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Matters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2628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during your Initial Enrollment Period to avoid permanent late penalties. Review coverage every year.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0" y="3840480"/>
            <a:ext cx="3749040" cy="2286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5" name="Shape 33"/>
          <p:cNvSpPr/>
          <p:nvPr/>
        </p:nvSpPr>
        <p:spPr>
          <a:xfrm>
            <a:off x="8412480" y="4069080"/>
            <a:ext cx="502920" cy="50292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41330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05256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5820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details at Medicare.gov or 1-800-MEDICARE. Plans and costs change annually.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1545</Words>
  <Application>Microsoft Office PowerPoint</Application>
  <PresentationFormat>Widescreen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Basics: A Detailed Overview</dc:title>
  <dc:subject>PptxGenJS Presentation</dc:subject>
  <dc:creator>Medicare Basics Overview</dc:creator>
  <cp:lastModifiedBy>Administrator</cp:lastModifiedBy>
  <cp:revision>3</cp:revision>
  <dcterms:created xsi:type="dcterms:W3CDTF">2026-09-22T23:26:56Z</dcterms:created>
  <dcterms:modified xsi:type="dcterms:W3CDTF">2026-09-23T16:26:25Z</dcterms:modified>
</cp:coreProperties>
</file>