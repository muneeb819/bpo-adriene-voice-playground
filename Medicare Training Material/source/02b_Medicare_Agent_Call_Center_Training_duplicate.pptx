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AGENT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Center Training Script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Sales &amp; Enrollment Call Framework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CMS-Aligned • Needs-Based • Professional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licensed agents handling Medicare Advantage, Part D &amp; related products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069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Objectives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agents will master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938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Compliance Rules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requirements that protect you and the beneficiary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807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Flow Overview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structure from greeting to close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6758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&amp; Disclosures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977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identification &amp; TPMO language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9601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623560" y="1069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Appointment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23560" y="1371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and when to complete the SOA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18288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23560" y="1938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Discovery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23560" y="2240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that uncover real priorities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269748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623560" y="2807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Close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23560" y="31089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Fact-based options and compliant next steps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356616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623560" y="36758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Do’s &amp; Don’ts + Practice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623560" y="3977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and role-play scenarios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Agent Training  |  Compliant Call Scripts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training, agents will be able to: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all required CMS disclosures accurately and early in the call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56232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valid Scope of Appointment before discussing any specific plans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359152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59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28600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eligibility and identity while protecting privacy (HIPAA)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862072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62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78892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effective needs discovery focused on doctors, meds, and priorities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364992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29184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plan options factually without steering or high-pressure tactics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3867912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867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79476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common objections professionally and close or schedule appropriately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Agent Training  |  Compliant Call Scripts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Compliance Rules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requirements for every marketing / sales / enrollment call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60520" cy="1024128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91440" cy="10241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61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Fully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full name, licensed agent status, agency name. Disclose you are not affiliated with Medicare or the government.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60520" cy="1024128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51560"/>
            <a:ext cx="91440" cy="10241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161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Consent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 the call is being recorded and obtain clear verbal permission before continuing.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160520" cy="1024128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194560"/>
            <a:ext cx="91440" cy="10241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304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TPMO Disclaimer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2606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required disclaimer about the number of organizations / plans you represent before discussing benefits.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4160520" cy="1024128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194560"/>
            <a:ext cx="91440" cy="10241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304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Appointment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606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product types the beneficiary wants to discuss before any plan-specific conversation.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4160520" cy="1024128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337560"/>
            <a:ext cx="91440" cy="10241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447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Cold Calling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3749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contact beneficiaries with documented prior permission. Never use purchased lists without consent.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337560"/>
            <a:ext cx="4160520" cy="1024128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3337560"/>
            <a:ext cx="91440" cy="10241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447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Pressure Language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749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“best,” “free,” false urgency, or any implication of government endorsement.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Agent Training  |  Compliant Call Scripts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7-Step Call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88720" y="1463040"/>
            <a:ext cx="594360" cy="548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057400"/>
            <a:ext cx="1170432" cy="219456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219456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&amp; 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2880360"/>
            <a:ext cx="1024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license, agency, recording, non-affiliation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1188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423160" y="1463040"/>
            <a:ext cx="594360" cy="548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2057400"/>
            <a:ext cx="1170432" cy="219456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627632" y="219456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27632" y="2880360"/>
            <a:ext cx="1024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product types authorized for discussion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1188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57600" y="1463040"/>
            <a:ext cx="594360" cy="548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2788920" y="2057400"/>
            <a:ext cx="1170432" cy="219456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2862072" y="219456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62072" y="2880360"/>
            <a:ext cx="1024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A/B, ZIP, decision-maker status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51960" y="1188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2519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892040" y="1463040"/>
            <a:ext cx="594360" cy="548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Shape 22"/>
          <p:cNvSpPr/>
          <p:nvPr/>
        </p:nvSpPr>
        <p:spPr>
          <a:xfrm>
            <a:off x="4023360" y="2057400"/>
            <a:ext cx="1170432" cy="219456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4096512" y="219456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Discovery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96512" y="2880360"/>
            <a:ext cx="1024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Doctors, meds, priorities, current plan gaps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1188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126480" y="1463040"/>
            <a:ext cx="594360" cy="548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Shape 28"/>
          <p:cNvSpPr/>
          <p:nvPr/>
        </p:nvSpPr>
        <p:spPr>
          <a:xfrm>
            <a:off x="5257800" y="2057400"/>
            <a:ext cx="1170432" cy="219456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5330952" y="219456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30952" y="2880360"/>
            <a:ext cx="1024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understanding before presenting options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0840" y="1188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360920" y="1463040"/>
            <a:ext cx="594360" cy="548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Shape 34"/>
          <p:cNvSpPr/>
          <p:nvPr/>
        </p:nvSpPr>
        <p:spPr>
          <a:xfrm>
            <a:off x="6492240" y="2057400"/>
            <a:ext cx="1170432" cy="219456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6565392" y="219456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65392" y="2880360"/>
            <a:ext cx="1024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Fact-based options within SOA + TPMO reminder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955280" y="1188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795528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7726680" y="2057400"/>
            <a:ext cx="1170432" cy="219456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7799832" y="219456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/ Next Steps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799832" y="2880360"/>
            <a:ext cx="1024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if ready, or summary + follow-up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Agent Training  |  Compliant Call Scripts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— Opening &amp; Required Disclosures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56616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SCRIPT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“Hello, may I speak with [Prospect Name]?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[Name], this is [Your Full Name], a licensed insurance agent with [Agency Name]. This call may be recorded for quality assurance and compliance purposes. Do I have your permission to continue and record this conversation?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[Wait for clear yes.]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I am calling regarding Medicare plan options. I represent [list carriers / number of organizations]. I am not connected with or endorsed by the federal government or the Medicare program. Is it okay to proceed?”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Agent Training  |  Compliant Call Scripts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Scope of Appointment (SOA)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completed and documented before any plan-specific discussion.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029200" cy="329184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SOA LANGUAGE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 we discuss any specific plans, I need to document the types of products you would like to review today. This is called a Scope of Appointment.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like to discuss Medicare Advantage plans, Medicare Supplement plans, Part D Prescription Drug plans, or a combination?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note that the products we discuss today will be limited to what you authorize right now. You are under no obligation to enroll in anything.”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05156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188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Scope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strictly within the product types authorized.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214884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2286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or electronic record is required.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7840" y="324612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3383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Obligation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6072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remind the beneficiary there is no pressure to enroll.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Agent Training  |  Compliant Call Scripts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 — Qualification &amp; Privacy Check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Status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1005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currently have Medicare Part A and Part B?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7452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Area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1874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ZIP code / county? (confirm plans available)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74320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743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the person who makes decisions about your Medicare coverage?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61188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(later)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611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privacy, may I confirm a couple of details from your Medicare information?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Agent Training  |  Compliant Call Scripts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 — Needs Discovery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more than you talk. These questions uncover what truly matters.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Coverage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 of coverage do you have now? (Original + Supplement, MA, Part D, etc.)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1280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happy are you with your current plan? Any costs, coverage gaps, or access issues?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280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1228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doctors, specialists, or hospitals are most important for you to keep?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prescription medications do you take regularly?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27432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3429000" y="292608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3192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3429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most — lower premiums, predictable costs, dental/vision, broader network?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27432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9360" y="292608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1228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Needs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9360" y="3429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upcoming procedures or expected changes in health needs?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Agent Training  |  Compliant Call Scripts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 5–7 — Recap, Present, Close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2788920" cy="3566160"/>
          </a:xfrm>
          <a:prstGeom prst="roundRect">
            <a:avLst>
              <a:gd name="adj" fmla="val 3279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822960"/>
            <a:ext cx="27889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68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Summarize doctors, meds, priorities, and budget concerns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Ask: “Did I get that right? Anything missing?”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Builds trust and prevents mis-matches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822960"/>
            <a:ext cx="2788920" cy="3566160"/>
          </a:xfrm>
          <a:prstGeom prst="roundRect">
            <a:avLst>
              <a:gd name="adj" fmla="val 3279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822960"/>
            <a:ext cx="27889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868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Present Options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15087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Stay within the SOA products only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1488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Present 1–3 relevant options factually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7889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State trade-offs clearly (network, prior auth, costs)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4290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Remind: “I do not offer every plan in your area”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822960"/>
            <a:ext cx="2788920" cy="3566160"/>
          </a:xfrm>
          <a:prstGeom prst="roundRect">
            <a:avLst>
              <a:gd name="adj" fmla="val 3279"/>
            </a:avLst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822960"/>
            <a:ext cx="27889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868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Close / Next Steps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15087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If ready: confirm understanding, complete enrollment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21488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If not: offer summary + schedule follow-up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27889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Never pressure same-call enrollment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34290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End with contact info + Medicare.gov / 1-800-MEDICARE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Agent Training  |  Compliant Call Scripts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Do’s and Don’ts Quick Reference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777240"/>
            <a:ext cx="41148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Sound helpful and educational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 every required step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Verify network &amp; formulary fit first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Offer Medicare.gov / SHIP as alternatives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Recap needs before presenting options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Stay within the agreed SOA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End every call professionally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09160" y="77724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9160" y="777240"/>
            <a:ext cx="411480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822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Cold call or use unpermitted lists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Discuss products outside the SOA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Claim affiliation with Medicare/gov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Use “best,” “free,” or false urgency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Pressure same-call enrollment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Skip required disclosures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Misrepresent benefits or networks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Agent Training  |  Compliant Call Scripts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Knowledge Agents Must Master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914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of Medicare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– Hospital Insurance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 – Medical Insurance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 – Medicare Advantage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 – Prescription Drugs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Medigap – Supplements Original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914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Enrollment Periods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2801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IEP – around 65th birthday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508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AEP – Oct 15 to Dec 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737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 OEP – Jan 1 to Mar 31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9659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SEPs – qualifying life events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88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vs Advantage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31546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Original: any provider accepting Medicare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383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Advantage: network, often extra benefits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6118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Advantage has annual OOP max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840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Trade-offs must be stated clearly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65176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788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Offer Alternatives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83480" y="31546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Medicare.gov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3383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1-800-MEDICARE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36118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Local SHIP counselor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3840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Independent comparison tools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Agent Training  |  Compliant Call Scripts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Role-Play Practice Scenarios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these live with a partner or supervisor. Score for compliance + discovery quality.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1247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AEP Inbound – Original Medicare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wants lower drug costs and is open to comparing Advantage plans.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8105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 Member – Network Issue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0574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is unhappy with specialist access and considering a switch.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60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4963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Child Calling for Parent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7432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Daughter is helping but is not the legal decision-maker.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46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1821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Happy With My Plan”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4290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 – offer a quick annual review without pressure.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31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8679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Scope Request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1148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asks about a product type not authorized in the SOA.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Agent Training  |  Compliant Call Scripts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protects everyone.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is to educate, listen, and help the beneficiary make an informed choice — never to push a plan.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current carrier materials and have your compliance team review scripts before use.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Practice with your supervisor today.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Medicare Agent Call Center Training</dc:title>
  <dc:subject>PptxGenJS Presentation</dc:subject>
  <dc:creator>Call Center Training Team</dc:creator>
  <cp:lastModifiedBy>Call Center Training Team</cp:lastModifiedBy>
  <cp:revision>1</cp:revision>
  <dcterms:created xsi:type="dcterms:W3CDTF">2026-09-21T22:39:13Z</dcterms:created>
  <dcterms:modified xsi:type="dcterms:W3CDTF">2026-09-21T22:39:13Z</dcterms:modified>
</cp:coreProperties>
</file>